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4" r:id="rId4"/>
    <p:sldId id="265" r:id="rId5"/>
    <p:sldId id="258" r:id="rId6"/>
    <p:sldId id="263" r:id="rId7"/>
    <p:sldId id="259" r:id="rId8"/>
    <p:sldId id="269" r:id="rId9"/>
    <p:sldId id="270" r:id="rId10"/>
    <p:sldId id="271" r:id="rId11"/>
    <p:sldId id="260" r:id="rId12"/>
    <p:sldId id="261" r:id="rId13"/>
    <p:sldId id="262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3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3A58E-65E5-A878-3C0F-D397700FA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C6139B-7875-FAE2-4148-24D202A8E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3D55F-34B1-A8AA-94A1-65BA4EA2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90634-9C1B-3A99-E2C4-D87C9BA0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36ADC4-41AC-D1DF-3A47-FC044711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80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0F158-949E-F3F5-BC66-770B080F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92BDEF-985C-0A65-A54E-7B0557EE2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156EF5-7A0E-C087-26C7-DBA2D37E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F55242-7634-93A4-0101-50DAC8DA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E83C4-1148-35DC-F9EB-D4CD45EE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29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40A17-823C-1133-2208-0789D3EC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A75A7F-4CA6-954E-CFD5-FC558AAB8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80324-D5D2-FE0D-AA12-762D172C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16D391-AB54-1128-1C39-C9058AF93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BBBF13-DE31-E455-4926-F69E8C4B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81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100A8-9731-1E87-06DC-A3A076FC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0161A9-9D72-64CF-A4FF-3DCDD85C7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E38963-85F6-6E1A-616B-94218672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3BD534-BA8B-93F9-B983-055483DB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F33FF6-BCBB-E001-52C2-1F8F0E56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ECEFD2-FF5C-2F0A-07B8-965491D6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52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59965-A7DC-3842-4B62-2B261B24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DFA5D4-C79D-A859-E95C-5F398B659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977431-EABC-B0FE-AC95-9D1D5530D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D28C5C-B46D-5826-25D6-DB48675C6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6D686B-C8BB-1AC6-E992-E13FFE18F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B95AB9-AE2A-3FAA-097E-B7D93F67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B8C2BC-C403-8FAD-2705-355DED18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33562F-CAA2-B5CD-1D0C-AAD6E44F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86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02117-889E-FA21-6C63-C46FE70B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95B334-83E6-38C1-D1C9-CA3BDD11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F13A20-DAD0-E93C-B908-27184F2D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8776E4-1006-6850-4C1C-E3FF4552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54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9EF8C6-0BC6-336D-2480-6EE33F1A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ADE8F01-B9D0-A0F5-905E-B236D345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D004CF-6545-B581-F694-89501529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70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06F1E-3F98-8923-B5CD-1AE8D76B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7A924A-0454-8F66-8087-19E33FCB4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C79F53-9A40-038C-4776-EB16D85D5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9E3860-D928-B9A4-78D1-6604E81F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5465F0-69E4-FDC8-BB3F-C8318FB8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726EBA-3B30-B5F8-B5F0-BB68BB46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79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F96D5-C0C8-4402-1B9B-311116DC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E5FB17-1247-D907-F516-51A394454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CAAF7C-3B4C-D656-3271-AACB7E46E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1ADD88-0F30-1E07-B5BA-B624D765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3AE3F5-92BD-D7BC-BB29-D7BD9E53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97805-E9F0-5C1E-2A75-12E69DDF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83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55F58-2AA5-EA4E-DEEB-D8124568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63C944-0450-8B3D-4D27-4D880B3A1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FCCBF-B426-71E1-81AA-EBDF265C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709CD4-9BC6-4860-883D-2EF64E5A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FA9727-51CC-14FD-A835-E499816B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29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B01E52-128B-08E2-6B59-6EDEA08DA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EAD86C-B1B8-0AE6-D1C2-4877FB478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8BACE-43DE-1E68-4C9E-11945A6A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893639-DC71-F887-3FE7-E32D851E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E646C4-BC7C-128E-0228-4F24D3A7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53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256F40-4AF8-4855-0731-86FCD9EC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D398D-C6DE-F154-053B-1C71234CC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8EE77F-FBEB-7FBB-F72A-7965A1500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172A7-332E-44D3-8A4A-9A459452882F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255AE7-2943-C102-FB14-D4924CC16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418D14-8AA7-D910-6DBA-C2F4E7B3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E3DE2-2806-46CE-A486-B52006943D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458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14BE-C3B6-7B4D-F9B5-D46AEE6B1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94425C-E0B3-893E-A123-7C597979B1E2}"/>
              </a:ext>
            </a:extLst>
          </p:cNvPr>
          <p:cNvSpPr txBox="1"/>
          <p:nvPr/>
        </p:nvSpPr>
        <p:spPr>
          <a:xfrm>
            <a:off x="2291278" y="2218967"/>
            <a:ext cx="700384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>
                <a:solidFill>
                  <a:srgbClr val="FF0000"/>
                </a:solidFill>
              </a:rPr>
              <a:t>1. </a:t>
            </a:r>
            <a:r>
              <a:rPr lang="ko-KR" altLang="en-US" sz="5000" b="1" dirty="0">
                <a:solidFill>
                  <a:srgbClr val="FF0000"/>
                </a:solidFill>
              </a:rPr>
              <a:t>벡터 </a:t>
            </a:r>
            <a:r>
              <a:rPr lang="en-US" altLang="ko-KR" sz="5000" b="1" dirty="0">
                <a:solidFill>
                  <a:srgbClr val="FF0000"/>
                </a:solidFill>
              </a:rPr>
              <a:t>DB </a:t>
            </a:r>
            <a:r>
              <a:rPr lang="ko-KR" altLang="en-US" sz="5000" b="1" dirty="0">
                <a:solidFill>
                  <a:srgbClr val="FF0000"/>
                </a:solidFill>
              </a:rPr>
              <a:t>데이터 확인</a:t>
            </a:r>
          </a:p>
        </p:txBody>
      </p:sp>
    </p:spTree>
    <p:extLst>
      <p:ext uri="{BB962C8B-B14F-4D97-AF65-F5344CB8AC3E}">
        <p14:creationId xmlns:p14="http://schemas.microsoft.com/office/powerpoint/2010/main" val="18226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2C4B3A-062F-5B0E-DC32-F8A299DEB595}"/>
              </a:ext>
            </a:extLst>
          </p:cNvPr>
          <p:cNvSpPr txBox="1"/>
          <p:nvPr/>
        </p:nvSpPr>
        <p:spPr>
          <a:xfrm>
            <a:off x="7058983" y="5383833"/>
            <a:ext cx="429675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File_upload_service.</a:t>
            </a:r>
            <a:r>
              <a:rPr lang="en-US" altLang="ko-KR" sz="2500" b="1">
                <a:solidFill>
                  <a:srgbClr val="FF0000"/>
                </a:solidFill>
              </a:rPr>
              <a:t>py </a:t>
            </a:r>
            <a:r>
              <a:rPr lang="ko-KR" altLang="en-US" sz="2500" b="1" dirty="0">
                <a:solidFill>
                  <a:srgbClr val="FF0000"/>
                </a:solidFill>
              </a:rPr>
              <a:t>수정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1E665-F145-DDC3-2ADA-290C8F5C3938}"/>
              </a:ext>
            </a:extLst>
          </p:cNvPr>
          <p:cNvSpPr txBox="1"/>
          <p:nvPr/>
        </p:nvSpPr>
        <p:spPr>
          <a:xfrm>
            <a:off x="214972" y="170162"/>
            <a:ext cx="103060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1. Zip </a:t>
            </a:r>
            <a:r>
              <a:rPr lang="ko-KR" altLang="en-US" sz="2500" b="1" dirty="0">
                <a:solidFill>
                  <a:srgbClr val="0000CC"/>
                </a:solidFill>
              </a:rPr>
              <a:t>파일</a:t>
            </a:r>
            <a:r>
              <a:rPr lang="en-US" altLang="ko-KR" sz="2500" b="1" dirty="0">
                <a:solidFill>
                  <a:srgbClr val="0000CC"/>
                </a:solidFill>
              </a:rPr>
              <a:t>(</a:t>
            </a:r>
            <a:r>
              <a:rPr lang="ko-KR" altLang="en-US" sz="2500" b="1" dirty="0" err="1">
                <a:solidFill>
                  <a:srgbClr val="0000CC"/>
                </a:solidFill>
              </a:rPr>
              <a:t>헬스커넥트</a:t>
            </a:r>
            <a:r>
              <a:rPr lang="ko-KR" altLang="en-US" sz="2500" b="1" dirty="0">
                <a:solidFill>
                  <a:srgbClr val="0000CC"/>
                </a:solidFill>
              </a:rPr>
              <a:t> 원본 데이터</a:t>
            </a:r>
            <a:r>
              <a:rPr lang="en-US" altLang="ko-KR" sz="2500" b="1" dirty="0">
                <a:solidFill>
                  <a:srgbClr val="0000CC"/>
                </a:solidFill>
              </a:rPr>
              <a:t>) </a:t>
            </a:r>
            <a:r>
              <a:rPr lang="ko-KR" altLang="en-US" sz="2500" b="1" dirty="0">
                <a:solidFill>
                  <a:srgbClr val="0000CC"/>
                </a:solidFill>
              </a:rPr>
              <a:t>프로젝트 폴더 내 저장 기능 추가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1CA8F-5869-ECEB-9BC0-63B53381F3C4}"/>
              </a:ext>
            </a:extLst>
          </p:cNvPr>
          <p:cNvSpPr txBox="1"/>
          <p:nvPr/>
        </p:nvSpPr>
        <p:spPr>
          <a:xfrm>
            <a:off x="373102" y="878130"/>
            <a:ext cx="8367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파일 업로드 시 </a:t>
            </a:r>
            <a:r>
              <a:rPr lang="en-US" altLang="ko-KR" b="1" dirty="0"/>
              <a:t>project &gt; backend &gt; </a:t>
            </a:r>
            <a:r>
              <a:rPr lang="en-US" altLang="ko-KR" b="1" dirty="0" err="1">
                <a:highlight>
                  <a:srgbClr val="FFFF00"/>
                </a:highlight>
              </a:rPr>
              <a:t>zip_data</a:t>
            </a:r>
            <a:r>
              <a:rPr lang="en-US" altLang="ko-KR" b="1" dirty="0">
                <a:highlight>
                  <a:srgbClr val="FFFF00"/>
                </a:highlight>
              </a:rPr>
              <a:t> &gt; upload</a:t>
            </a:r>
            <a:r>
              <a:rPr lang="en-US" altLang="ko-KR" b="1" dirty="0"/>
              <a:t> </a:t>
            </a:r>
            <a:r>
              <a:rPr lang="ko-KR" altLang="en-US" b="1" dirty="0"/>
              <a:t>내 자동 저장 추가</a:t>
            </a:r>
          </a:p>
        </p:txBody>
      </p:sp>
      <p:pic>
        <p:nvPicPr>
          <p:cNvPr id="10" name="그림 9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A63B2D-10D8-C0C3-2A3A-0761A50B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56" y="2440831"/>
            <a:ext cx="4703752" cy="38188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2ACF73-678F-2D5C-F78F-9F9BBBB90208}"/>
              </a:ext>
            </a:extLst>
          </p:cNvPr>
          <p:cNvSpPr txBox="1"/>
          <p:nvPr/>
        </p:nvSpPr>
        <p:spPr>
          <a:xfrm>
            <a:off x="1672512" y="2033161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수정된 폴더 구조</a:t>
            </a:r>
            <a:endParaRPr lang="ko-KR" altLang="en-US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C6B908-FF04-8968-9715-4078B0F5ABA3}"/>
              </a:ext>
            </a:extLst>
          </p:cNvPr>
          <p:cNvSpPr/>
          <p:nvPr/>
        </p:nvSpPr>
        <p:spPr>
          <a:xfrm>
            <a:off x="488138" y="4461997"/>
            <a:ext cx="4468873" cy="17977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1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E12C-5B9F-1AE3-4030-4D0EC624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446FB2-49B5-C24D-14AB-DA0283331E29}"/>
              </a:ext>
            </a:extLst>
          </p:cNvPr>
          <p:cNvSpPr txBox="1"/>
          <p:nvPr/>
        </p:nvSpPr>
        <p:spPr>
          <a:xfrm>
            <a:off x="7058983" y="5383833"/>
            <a:ext cx="45945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(</a:t>
            </a:r>
            <a:r>
              <a:rPr lang="ko-KR" altLang="en-US" sz="2500" b="1" dirty="0">
                <a:solidFill>
                  <a:srgbClr val="0000CC"/>
                </a:solidFill>
              </a:rPr>
              <a:t>기존</a:t>
            </a:r>
            <a:r>
              <a:rPr lang="en-US" altLang="ko-KR" sz="2500" b="1" dirty="0">
                <a:solidFill>
                  <a:srgbClr val="0000CC"/>
                </a:solidFill>
              </a:rPr>
              <a:t>) check_vectordb.py</a:t>
            </a:r>
          </a:p>
          <a:p>
            <a:r>
              <a:rPr lang="en-US" altLang="ko-KR" sz="2500" b="1" dirty="0">
                <a:solidFill>
                  <a:srgbClr val="FF0000"/>
                </a:solidFill>
              </a:rPr>
              <a:t>(</a:t>
            </a:r>
            <a:r>
              <a:rPr lang="ko-KR" altLang="en-US" sz="2500" b="1" dirty="0">
                <a:solidFill>
                  <a:srgbClr val="FF0000"/>
                </a:solidFill>
              </a:rPr>
              <a:t>파일명 수정</a:t>
            </a:r>
            <a:r>
              <a:rPr lang="en-US" altLang="ko-KR" sz="2500" b="1" dirty="0">
                <a:solidFill>
                  <a:srgbClr val="FF0000"/>
                </a:solidFill>
              </a:rPr>
              <a:t>) inspect_data.py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5E4A7-A92F-8042-4A7F-BC3617D77E66}"/>
              </a:ext>
            </a:extLst>
          </p:cNvPr>
          <p:cNvSpPr txBox="1"/>
          <p:nvPr/>
        </p:nvSpPr>
        <p:spPr>
          <a:xfrm>
            <a:off x="214972" y="170162"/>
            <a:ext cx="71400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2. Zip </a:t>
            </a:r>
            <a:r>
              <a:rPr lang="ko-KR" altLang="en-US" sz="2500" b="1" dirty="0">
                <a:solidFill>
                  <a:srgbClr val="0000CC"/>
                </a:solidFill>
              </a:rPr>
              <a:t>파일</a:t>
            </a:r>
            <a:r>
              <a:rPr lang="en-US" altLang="ko-KR" sz="2500" b="1" dirty="0">
                <a:solidFill>
                  <a:srgbClr val="0000CC"/>
                </a:solidFill>
              </a:rPr>
              <a:t>(raw data), </a:t>
            </a:r>
            <a:r>
              <a:rPr lang="ko-KR" altLang="en-US" sz="2500" b="1" dirty="0">
                <a:solidFill>
                  <a:srgbClr val="0000CC"/>
                </a:solidFill>
              </a:rPr>
              <a:t>벡터</a:t>
            </a:r>
            <a:r>
              <a:rPr lang="en-US" altLang="ko-KR" sz="2500" b="1" dirty="0">
                <a:solidFill>
                  <a:srgbClr val="0000CC"/>
                </a:solidFill>
              </a:rPr>
              <a:t>DB </a:t>
            </a:r>
            <a:r>
              <a:rPr lang="ko-KR" altLang="en-US" sz="2500" b="1" dirty="0">
                <a:solidFill>
                  <a:srgbClr val="0000CC"/>
                </a:solidFill>
              </a:rPr>
              <a:t>내 데이터 확인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8A5A7-BFD1-296B-1F2E-D39E311C6D54}"/>
              </a:ext>
            </a:extLst>
          </p:cNvPr>
          <p:cNvSpPr txBox="1"/>
          <p:nvPr/>
        </p:nvSpPr>
        <p:spPr>
          <a:xfrm>
            <a:off x="263099" y="1077511"/>
            <a:ext cx="5252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project &gt; backend &gt; </a:t>
            </a:r>
            <a:r>
              <a:rPr lang="en-US" altLang="ko-KR" b="1" dirty="0">
                <a:highlight>
                  <a:srgbClr val="00FFFF"/>
                </a:highlight>
              </a:rPr>
              <a:t>check_vectordb.py</a:t>
            </a: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 project &gt; backend &gt; </a:t>
            </a:r>
            <a:r>
              <a:rPr lang="en-US" altLang="ko-KR" b="1" dirty="0">
                <a:highlight>
                  <a:srgbClr val="FFFF00"/>
                </a:highlight>
              </a:rPr>
              <a:t>inspect_data.py</a:t>
            </a:r>
          </a:p>
          <a:p>
            <a:endParaRPr lang="ko-KR" alt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D500B3-912F-F41D-5B62-BEBB3253E7A8}"/>
              </a:ext>
            </a:extLst>
          </p:cNvPr>
          <p:cNvSpPr txBox="1"/>
          <p:nvPr/>
        </p:nvSpPr>
        <p:spPr>
          <a:xfrm>
            <a:off x="806238" y="2762108"/>
            <a:ext cx="67730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(</a:t>
            </a:r>
            <a:r>
              <a:rPr lang="ko-KR" altLang="en-US" sz="2500" b="1" dirty="0">
                <a:solidFill>
                  <a:srgbClr val="0000CC"/>
                </a:solidFill>
              </a:rPr>
              <a:t>기존</a:t>
            </a:r>
            <a:r>
              <a:rPr lang="en-US" altLang="ko-KR" sz="2500" b="1" dirty="0">
                <a:solidFill>
                  <a:srgbClr val="0000CC"/>
                </a:solidFill>
              </a:rPr>
              <a:t>) </a:t>
            </a:r>
            <a:r>
              <a:rPr lang="ko-KR" altLang="en-US" sz="2500" b="1" dirty="0">
                <a:solidFill>
                  <a:srgbClr val="0000CC"/>
                </a:solidFill>
              </a:rPr>
              <a:t>벡터 </a:t>
            </a:r>
            <a:r>
              <a:rPr lang="en-US" altLang="ko-KR" sz="2500" b="1" dirty="0">
                <a:solidFill>
                  <a:srgbClr val="0000CC"/>
                </a:solidFill>
              </a:rPr>
              <a:t>DB</a:t>
            </a:r>
            <a:r>
              <a:rPr lang="ko-KR" altLang="en-US" sz="2500" b="1" dirty="0">
                <a:solidFill>
                  <a:srgbClr val="0000CC"/>
                </a:solidFill>
              </a:rPr>
              <a:t>를 검색할 수 있는 코드만 존재</a:t>
            </a:r>
            <a:endParaRPr lang="en-US" altLang="ko-KR" sz="2500" b="1" dirty="0">
              <a:solidFill>
                <a:srgbClr val="0000CC"/>
              </a:solidFill>
            </a:endParaRPr>
          </a:p>
          <a:p>
            <a:r>
              <a:rPr lang="en-US" altLang="ko-KR" sz="2500" b="1" dirty="0">
                <a:solidFill>
                  <a:srgbClr val="0000CC"/>
                </a:solidFill>
              </a:rPr>
              <a:t>(</a:t>
            </a:r>
            <a:r>
              <a:rPr lang="ko-KR" altLang="en-US" sz="2500" b="1" dirty="0">
                <a:solidFill>
                  <a:srgbClr val="0000CC"/>
                </a:solidFill>
              </a:rPr>
              <a:t>수정</a:t>
            </a:r>
            <a:r>
              <a:rPr lang="en-US" altLang="ko-KR" sz="2500" b="1" dirty="0">
                <a:solidFill>
                  <a:srgbClr val="0000CC"/>
                </a:solidFill>
              </a:rPr>
              <a:t>) zip </a:t>
            </a:r>
            <a:r>
              <a:rPr lang="ko-KR" altLang="en-US" sz="2500" b="1" dirty="0">
                <a:solidFill>
                  <a:srgbClr val="0000CC"/>
                </a:solidFill>
              </a:rPr>
              <a:t>파일 데이터 검색 기능 추가</a:t>
            </a:r>
          </a:p>
        </p:txBody>
      </p:sp>
    </p:spTree>
    <p:extLst>
      <p:ext uri="{BB962C8B-B14F-4D97-AF65-F5344CB8AC3E}">
        <p14:creationId xmlns:p14="http://schemas.microsoft.com/office/powerpoint/2010/main" val="338923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F712-8949-2B68-6D67-C4DEA0FC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09E35D-BB38-DC4D-852D-AD3812A514A7}"/>
              </a:ext>
            </a:extLst>
          </p:cNvPr>
          <p:cNvSpPr txBox="1"/>
          <p:nvPr/>
        </p:nvSpPr>
        <p:spPr>
          <a:xfrm>
            <a:off x="7058983" y="5383833"/>
            <a:ext cx="20994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db_parser.py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9B335-A4AA-F759-BC66-79CD687BA513}"/>
              </a:ext>
            </a:extLst>
          </p:cNvPr>
          <p:cNvSpPr txBox="1"/>
          <p:nvPr/>
        </p:nvSpPr>
        <p:spPr>
          <a:xfrm>
            <a:off x="214972" y="170162"/>
            <a:ext cx="74478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3. </a:t>
            </a:r>
            <a:r>
              <a:rPr lang="ko-KR" altLang="en-US" sz="2500" b="1" dirty="0">
                <a:solidFill>
                  <a:srgbClr val="0000CC"/>
                </a:solidFill>
              </a:rPr>
              <a:t>심박수</a:t>
            </a:r>
            <a:r>
              <a:rPr lang="en-US" altLang="ko-KR" sz="2500" b="1" dirty="0">
                <a:solidFill>
                  <a:srgbClr val="0000CC"/>
                </a:solidFill>
              </a:rPr>
              <a:t>(</a:t>
            </a:r>
            <a:r>
              <a:rPr lang="ko-KR" altLang="en-US" sz="2500" b="1" dirty="0">
                <a:solidFill>
                  <a:srgbClr val="0000CC"/>
                </a:solidFill>
              </a:rPr>
              <a:t>삼성</a:t>
            </a:r>
            <a:r>
              <a:rPr lang="en-US" altLang="ko-KR" sz="2500" b="1" dirty="0">
                <a:solidFill>
                  <a:srgbClr val="0000CC"/>
                </a:solidFill>
              </a:rPr>
              <a:t>, zip </a:t>
            </a:r>
            <a:r>
              <a:rPr lang="ko-KR" altLang="en-US" sz="2500" b="1" dirty="0">
                <a:solidFill>
                  <a:srgbClr val="0000CC"/>
                </a:solidFill>
              </a:rPr>
              <a:t>파일</a:t>
            </a:r>
            <a:r>
              <a:rPr lang="en-US" altLang="ko-KR" sz="2500" b="1" dirty="0">
                <a:solidFill>
                  <a:srgbClr val="0000CC"/>
                </a:solidFill>
              </a:rPr>
              <a:t>) </a:t>
            </a:r>
            <a:r>
              <a:rPr lang="ko-KR" altLang="en-US" sz="2500" b="1" dirty="0">
                <a:solidFill>
                  <a:srgbClr val="0000CC"/>
                </a:solidFill>
              </a:rPr>
              <a:t>데이터 수집 레코드 변경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E343F-CC26-C7F5-0EDC-80C47A6A23EC}"/>
              </a:ext>
            </a:extLst>
          </p:cNvPr>
          <p:cNvSpPr txBox="1"/>
          <p:nvPr/>
        </p:nvSpPr>
        <p:spPr>
          <a:xfrm>
            <a:off x="214972" y="1070635"/>
            <a:ext cx="4172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</a:t>
            </a:r>
            <a:r>
              <a:rPr lang="en-US" altLang="ko-KR" b="1" dirty="0" err="1"/>
              <a:t>heart_rate_record_table</a:t>
            </a:r>
            <a:endParaRPr lang="en-US" altLang="ko-KR" b="1" dirty="0">
              <a:highlight>
                <a:srgbClr val="00FFFF"/>
              </a:highlight>
            </a:endParaRP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 </a:t>
            </a:r>
            <a:r>
              <a:rPr lang="en-US" altLang="ko-KR" b="1" dirty="0" err="1">
                <a:highlight>
                  <a:srgbClr val="FFFF00"/>
                </a:highlight>
              </a:rPr>
              <a:t>heart_rate_record_series_table</a:t>
            </a:r>
            <a:endParaRPr lang="en-US" altLang="ko-KR" b="1" dirty="0">
              <a:highlight>
                <a:srgbClr val="FFFF00"/>
              </a:highlight>
            </a:endParaRPr>
          </a:p>
          <a:p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DF222-87DF-E5D8-9C29-FA5294DDE52B}"/>
              </a:ext>
            </a:extLst>
          </p:cNvPr>
          <p:cNvSpPr txBox="1"/>
          <p:nvPr/>
        </p:nvSpPr>
        <p:spPr>
          <a:xfrm>
            <a:off x="806238" y="2762108"/>
            <a:ext cx="806400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(</a:t>
            </a:r>
            <a:r>
              <a:rPr lang="ko-KR" altLang="en-US" sz="2500" b="1" dirty="0">
                <a:solidFill>
                  <a:srgbClr val="0000CC"/>
                </a:solidFill>
              </a:rPr>
              <a:t>기존</a:t>
            </a:r>
            <a:r>
              <a:rPr lang="en-US" altLang="ko-KR" sz="2500" b="1" dirty="0">
                <a:solidFill>
                  <a:srgbClr val="0000CC"/>
                </a:solidFill>
              </a:rPr>
              <a:t>) </a:t>
            </a:r>
            <a:r>
              <a:rPr lang="en-US" altLang="ko-KR" sz="2500" b="1" dirty="0" err="1">
                <a:solidFill>
                  <a:srgbClr val="0000CC"/>
                </a:solidFill>
              </a:rPr>
              <a:t>heart_rate_record_rable</a:t>
            </a:r>
            <a:r>
              <a:rPr lang="en-US" altLang="ko-KR" sz="2500" b="1" dirty="0">
                <a:solidFill>
                  <a:srgbClr val="0000CC"/>
                </a:solidFill>
              </a:rPr>
              <a:t> </a:t>
            </a:r>
            <a:r>
              <a:rPr lang="ko-KR" altLang="en-US" sz="2500" b="1" dirty="0">
                <a:solidFill>
                  <a:srgbClr val="0000CC"/>
                </a:solidFill>
              </a:rPr>
              <a:t>내 심박수 데이터 없음</a:t>
            </a:r>
            <a:endParaRPr lang="en-US" altLang="ko-KR" sz="2500" b="1" dirty="0">
              <a:solidFill>
                <a:srgbClr val="0000CC"/>
              </a:solidFill>
            </a:endParaRPr>
          </a:p>
          <a:p>
            <a:r>
              <a:rPr lang="en-US" altLang="ko-KR" sz="2500" b="1" dirty="0">
                <a:solidFill>
                  <a:srgbClr val="0000CC"/>
                </a:solidFill>
              </a:rPr>
              <a:t>(</a:t>
            </a:r>
            <a:r>
              <a:rPr lang="ko-KR" altLang="en-US" sz="2500" b="1" dirty="0">
                <a:solidFill>
                  <a:srgbClr val="0000CC"/>
                </a:solidFill>
              </a:rPr>
              <a:t>수정</a:t>
            </a:r>
            <a:r>
              <a:rPr lang="en-US" altLang="ko-KR" sz="2500" b="1" dirty="0">
                <a:solidFill>
                  <a:srgbClr val="0000CC"/>
                </a:solidFill>
              </a:rPr>
              <a:t>) </a:t>
            </a:r>
            <a:r>
              <a:rPr lang="en-US" altLang="ko-KR" sz="2500" b="1" dirty="0" err="1">
                <a:solidFill>
                  <a:srgbClr val="0000CC"/>
                </a:solidFill>
              </a:rPr>
              <a:t>heart_rate_record_series_table</a:t>
            </a:r>
            <a:r>
              <a:rPr lang="en-US" altLang="ko-KR" sz="2500" b="1" dirty="0">
                <a:solidFill>
                  <a:srgbClr val="0000CC"/>
                </a:solidFill>
              </a:rPr>
              <a:t> </a:t>
            </a:r>
            <a:r>
              <a:rPr lang="ko-KR" altLang="en-US" sz="2500" b="1" dirty="0">
                <a:solidFill>
                  <a:srgbClr val="0000CC"/>
                </a:solidFill>
              </a:rPr>
              <a:t>내 데이터 확인</a:t>
            </a:r>
          </a:p>
        </p:txBody>
      </p:sp>
    </p:spTree>
    <p:extLst>
      <p:ext uri="{BB962C8B-B14F-4D97-AF65-F5344CB8AC3E}">
        <p14:creationId xmlns:p14="http://schemas.microsoft.com/office/powerpoint/2010/main" val="3469096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BE1D-2DA5-F488-B651-095EE720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BBEBFA-B2B6-1389-A6F6-426C01662F61}"/>
              </a:ext>
            </a:extLst>
          </p:cNvPr>
          <p:cNvSpPr txBox="1"/>
          <p:nvPr/>
        </p:nvSpPr>
        <p:spPr>
          <a:xfrm>
            <a:off x="7058983" y="5383833"/>
            <a:ext cx="371345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auto_upload_service.py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C6AAD-8E95-F0A5-252C-FC2697464702}"/>
              </a:ext>
            </a:extLst>
          </p:cNvPr>
          <p:cNvSpPr txBox="1"/>
          <p:nvPr/>
        </p:nvSpPr>
        <p:spPr>
          <a:xfrm>
            <a:off x="214972" y="170162"/>
            <a:ext cx="367600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4. </a:t>
            </a:r>
            <a:r>
              <a:rPr lang="ko-KR" altLang="en-US" sz="2500" b="1" dirty="0">
                <a:solidFill>
                  <a:srgbClr val="0000CC"/>
                </a:solidFill>
              </a:rPr>
              <a:t>플랫폼별 데이터 구분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0BCBB-6FB3-ADB2-FADE-19418DB1AE23}"/>
              </a:ext>
            </a:extLst>
          </p:cNvPr>
          <p:cNvSpPr txBox="1"/>
          <p:nvPr/>
        </p:nvSpPr>
        <p:spPr>
          <a:xfrm>
            <a:off x="214972" y="1070635"/>
            <a:ext cx="5295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</a:t>
            </a:r>
            <a:r>
              <a:rPr lang="ko-KR" altLang="en-US" b="1" dirty="0"/>
              <a:t>애플 데이터인데</a:t>
            </a:r>
            <a:r>
              <a:rPr lang="en-US" altLang="ko-KR" b="1" dirty="0"/>
              <a:t>, </a:t>
            </a:r>
            <a:r>
              <a:rPr lang="ko-KR" altLang="en-US" b="1" dirty="0"/>
              <a:t>벡터</a:t>
            </a:r>
            <a:r>
              <a:rPr lang="en-US" altLang="ko-KR" b="1" dirty="0"/>
              <a:t>DB</a:t>
            </a:r>
            <a:r>
              <a:rPr lang="ko-KR" altLang="en-US" b="1" dirty="0"/>
              <a:t>에 삼성으로 인식</a:t>
            </a:r>
            <a:endParaRPr lang="en-US" altLang="ko-KR" b="1" dirty="0">
              <a:highlight>
                <a:srgbClr val="00FFFF"/>
              </a:highlight>
            </a:endParaRP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 </a:t>
            </a:r>
            <a:r>
              <a:rPr lang="ko-KR" altLang="en-US" b="1" dirty="0">
                <a:highlight>
                  <a:srgbClr val="FFFF00"/>
                </a:highlight>
              </a:rPr>
              <a:t>애플 데이터는 애플로 인식되도록 수정</a:t>
            </a:r>
            <a:endParaRPr lang="en-US" altLang="ko-KR" b="1" dirty="0">
              <a:highlight>
                <a:srgbClr val="FFFF00"/>
              </a:highlight>
            </a:endParaRPr>
          </a:p>
          <a:p>
            <a:endParaRPr lang="ko-KR" altLang="en-US" b="1" dirty="0"/>
          </a:p>
        </p:txBody>
      </p:sp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8B92D7-C2D8-A5AE-10F8-BF35EF879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93" y="2829355"/>
            <a:ext cx="2980595" cy="12955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6D67A7-8405-93BC-1B2D-1E3AA29C4DCF}"/>
              </a:ext>
            </a:extLst>
          </p:cNvPr>
          <p:cNvSpPr txBox="1"/>
          <p:nvPr/>
        </p:nvSpPr>
        <p:spPr>
          <a:xfrm>
            <a:off x="1445630" y="4185095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애플데이터가 삼성으로 인식</a:t>
            </a:r>
          </a:p>
        </p:txBody>
      </p:sp>
    </p:spTree>
    <p:extLst>
      <p:ext uri="{BB962C8B-B14F-4D97-AF65-F5344CB8AC3E}">
        <p14:creationId xmlns:p14="http://schemas.microsoft.com/office/powerpoint/2010/main" val="3471158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909D-8E5E-D00F-C320-F16238B3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A75BE3-889A-1545-7119-A289AF8C0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11" y="2801638"/>
            <a:ext cx="3333074" cy="2959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40CF93-8CDC-ED6D-F5EB-76FF0B7F143C}"/>
              </a:ext>
            </a:extLst>
          </p:cNvPr>
          <p:cNvSpPr txBox="1"/>
          <p:nvPr/>
        </p:nvSpPr>
        <p:spPr>
          <a:xfrm>
            <a:off x="730611" y="5972820"/>
            <a:ext cx="2887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Zip </a:t>
            </a:r>
            <a:r>
              <a:rPr lang="ko-KR" altLang="en-US" dirty="0"/>
              <a:t>업로드 후 </a:t>
            </a:r>
            <a:r>
              <a:rPr lang="ko-KR" altLang="en-US" dirty="0" err="1"/>
              <a:t>분석시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건강점수만 반영되어 있음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11BFC8-5291-02F7-7B4F-EFD11922F8F8}"/>
              </a:ext>
            </a:extLst>
          </p:cNvPr>
          <p:cNvSpPr txBox="1"/>
          <p:nvPr/>
        </p:nvSpPr>
        <p:spPr>
          <a:xfrm>
            <a:off x="214972" y="170162"/>
            <a:ext cx="271420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5. </a:t>
            </a:r>
            <a:r>
              <a:rPr lang="ko-KR" altLang="en-US" sz="2500" b="1" dirty="0">
                <a:solidFill>
                  <a:srgbClr val="0000CC"/>
                </a:solidFill>
              </a:rPr>
              <a:t>분석 결과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09D2-3C4E-5D90-B1A3-D91C5AFCD09F}"/>
              </a:ext>
            </a:extLst>
          </p:cNvPr>
          <p:cNvSpPr txBox="1"/>
          <p:nvPr/>
        </p:nvSpPr>
        <p:spPr>
          <a:xfrm>
            <a:off x="214972" y="1070635"/>
            <a:ext cx="70679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</a:t>
            </a:r>
            <a:r>
              <a:rPr lang="ko-KR" altLang="en-US" b="1" dirty="0"/>
              <a:t>건강점수 근거가 걸음 하나만 나타나고</a:t>
            </a:r>
            <a:r>
              <a:rPr lang="en-US" altLang="ko-KR" b="1" dirty="0"/>
              <a:t>, </a:t>
            </a:r>
            <a:r>
              <a:rPr lang="ko-KR" altLang="en-US" b="1" dirty="0"/>
              <a:t>분석 결과도 약식임</a:t>
            </a:r>
            <a:endParaRPr lang="en-US" altLang="ko-KR" b="1" dirty="0">
              <a:highlight>
                <a:srgbClr val="00FFFF"/>
              </a:highlight>
            </a:endParaRP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 </a:t>
            </a:r>
            <a:r>
              <a:rPr lang="ko-KR" altLang="en-US" b="1" dirty="0"/>
              <a:t>오른쪽과 같이 수정함</a:t>
            </a:r>
            <a:endParaRPr lang="en-US" altLang="ko-KR" b="1" dirty="0">
              <a:highlight>
                <a:srgbClr val="FFFF00"/>
              </a:highlight>
            </a:endParaRPr>
          </a:p>
          <a:p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35018-1897-E4C8-78C1-8F416BAB4DDD}"/>
              </a:ext>
            </a:extLst>
          </p:cNvPr>
          <p:cNvSpPr txBox="1"/>
          <p:nvPr/>
        </p:nvSpPr>
        <p:spPr>
          <a:xfrm>
            <a:off x="2871994" y="143579"/>
            <a:ext cx="3765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Health_interpreter.py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2" name="그림 11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4BDA0-360D-C6BB-48E6-4F260CCF8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036" y="1851379"/>
            <a:ext cx="5351523" cy="469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7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B98E-F000-8231-E57F-B1D5146B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F0CBE-50FD-B571-2436-77A99132701F}"/>
              </a:ext>
            </a:extLst>
          </p:cNvPr>
          <p:cNvSpPr txBox="1"/>
          <p:nvPr/>
        </p:nvSpPr>
        <p:spPr>
          <a:xfrm>
            <a:off x="214972" y="170162"/>
            <a:ext cx="50706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6. </a:t>
            </a:r>
            <a:r>
              <a:rPr lang="ko-KR" altLang="en-US" sz="2500" b="1" dirty="0" err="1">
                <a:solidFill>
                  <a:srgbClr val="0000CC"/>
                </a:solidFill>
              </a:rPr>
              <a:t>챗봇</a:t>
            </a:r>
            <a:r>
              <a:rPr lang="ko-KR" altLang="en-US" sz="2500" b="1" dirty="0">
                <a:solidFill>
                  <a:srgbClr val="0000CC"/>
                </a:solidFill>
              </a:rPr>
              <a:t> 고정형 </a:t>
            </a:r>
            <a:r>
              <a:rPr lang="ko-KR" altLang="en-US" sz="2500" b="1" dirty="0" err="1">
                <a:solidFill>
                  <a:srgbClr val="0000CC"/>
                </a:solidFill>
              </a:rPr>
              <a:t>분석용데이터</a:t>
            </a:r>
            <a:r>
              <a:rPr lang="ko-KR" altLang="en-US" sz="2500" b="1" dirty="0">
                <a:solidFill>
                  <a:srgbClr val="0000CC"/>
                </a:solidFill>
              </a:rPr>
              <a:t>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5A42A-AC0F-8C95-F0C9-4874C4FAC25B}"/>
              </a:ext>
            </a:extLst>
          </p:cNvPr>
          <p:cNvSpPr txBox="1"/>
          <p:nvPr/>
        </p:nvSpPr>
        <p:spPr>
          <a:xfrm>
            <a:off x="214972" y="1070635"/>
            <a:ext cx="898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</a:t>
            </a:r>
            <a:r>
              <a:rPr lang="ko-KR" altLang="en-US" b="1" dirty="0"/>
              <a:t>고정형 </a:t>
            </a:r>
            <a:r>
              <a:rPr lang="ko-KR" altLang="en-US" b="1" dirty="0" err="1"/>
              <a:t>챗봇의</a:t>
            </a:r>
            <a:r>
              <a:rPr lang="ko-KR" altLang="en-US" b="1" dirty="0"/>
              <a:t> 데이터 선택 방식</a:t>
            </a:r>
            <a:r>
              <a:rPr lang="en-US" altLang="ko-KR" b="1" dirty="0"/>
              <a:t>: </a:t>
            </a:r>
            <a:r>
              <a:rPr lang="ko-KR" altLang="en-US" b="1" dirty="0"/>
              <a:t>유사도 기준으로 정렬되지</a:t>
            </a:r>
            <a:r>
              <a:rPr lang="en-US" altLang="ko-KR" b="1" dirty="0"/>
              <a:t>, </a:t>
            </a:r>
            <a:r>
              <a:rPr lang="ko-KR" altLang="en-US" b="1" dirty="0"/>
              <a:t>최신 기준이 아님</a:t>
            </a:r>
            <a:endParaRPr lang="en-US" altLang="ko-KR" b="1" dirty="0">
              <a:highlight>
                <a:srgbClr val="00FFFF"/>
              </a:highlight>
            </a:endParaRP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 </a:t>
            </a:r>
            <a:r>
              <a:rPr lang="ko-KR" altLang="en-US" b="1" dirty="0"/>
              <a:t>같은 날짜 데이터 병합 후 최신 것 사용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4F310-EBD3-C8B4-3360-76BBD12AD216}"/>
              </a:ext>
            </a:extLst>
          </p:cNvPr>
          <p:cNvSpPr txBox="1"/>
          <p:nvPr/>
        </p:nvSpPr>
        <p:spPr>
          <a:xfrm>
            <a:off x="7806730" y="4617815"/>
            <a:ext cx="2796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Vector_store.py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535874-A625-AC13-79FF-A1BEF50D6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74" y="2493178"/>
            <a:ext cx="4915442" cy="23116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B66352-79BC-457C-1BB3-3A29F1BCE7E5}"/>
              </a:ext>
            </a:extLst>
          </p:cNvPr>
          <p:cNvSpPr txBox="1"/>
          <p:nvPr/>
        </p:nvSpPr>
        <p:spPr>
          <a:xfrm>
            <a:off x="7572778" y="5264145"/>
            <a:ext cx="4170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fixed_responses.py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95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699A-4336-2CB7-F7A7-2B597EDD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03EB18-DB26-67DE-F5C9-554660D404F1}"/>
              </a:ext>
            </a:extLst>
          </p:cNvPr>
          <p:cNvSpPr txBox="1"/>
          <p:nvPr/>
        </p:nvSpPr>
        <p:spPr>
          <a:xfrm>
            <a:off x="214972" y="170162"/>
            <a:ext cx="50706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7. </a:t>
            </a:r>
            <a:r>
              <a:rPr lang="ko-KR" altLang="en-US" sz="2500" b="1" dirty="0" err="1">
                <a:solidFill>
                  <a:srgbClr val="0000CC"/>
                </a:solidFill>
              </a:rPr>
              <a:t>챗봇</a:t>
            </a:r>
            <a:r>
              <a:rPr lang="ko-KR" altLang="en-US" sz="2500" b="1" dirty="0">
                <a:solidFill>
                  <a:srgbClr val="0000CC"/>
                </a:solidFill>
              </a:rPr>
              <a:t> 자유형 </a:t>
            </a:r>
            <a:r>
              <a:rPr lang="ko-KR" altLang="en-US" sz="2500" b="1" dirty="0" err="1">
                <a:solidFill>
                  <a:srgbClr val="0000CC"/>
                </a:solidFill>
              </a:rPr>
              <a:t>분석용데이터</a:t>
            </a:r>
            <a:r>
              <a:rPr lang="ko-KR" altLang="en-US" sz="2500" b="1" dirty="0">
                <a:solidFill>
                  <a:srgbClr val="0000CC"/>
                </a:solidFill>
              </a:rPr>
              <a:t>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8F27F-80AF-53D5-B5B3-DB0DE793C87C}"/>
              </a:ext>
            </a:extLst>
          </p:cNvPr>
          <p:cNvSpPr txBox="1"/>
          <p:nvPr/>
        </p:nvSpPr>
        <p:spPr>
          <a:xfrm>
            <a:off x="214972" y="1070635"/>
            <a:ext cx="898996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</a:t>
            </a:r>
            <a:r>
              <a:rPr lang="ko-KR" altLang="en-US" b="1" dirty="0"/>
              <a:t>자유형 </a:t>
            </a:r>
            <a:r>
              <a:rPr lang="ko-KR" altLang="en-US" b="1" dirty="0" err="1"/>
              <a:t>챗봇의</a:t>
            </a:r>
            <a:r>
              <a:rPr lang="ko-KR" altLang="en-US" b="1" dirty="0"/>
              <a:t> 데이터 선택 방식</a:t>
            </a:r>
            <a:r>
              <a:rPr lang="en-US" altLang="ko-KR" b="1" dirty="0"/>
              <a:t>: </a:t>
            </a:r>
            <a:r>
              <a:rPr lang="ko-KR" altLang="en-US" b="1" dirty="0"/>
              <a:t>유사도 기준으로 정렬되지</a:t>
            </a:r>
            <a:r>
              <a:rPr lang="en-US" altLang="ko-KR" b="1" dirty="0"/>
              <a:t>, </a:t>
            </a:r>
            <a:r>
              <a:rPr lang="ko-KR" altLang="en-US" b="1" dirty="0"/>
              <a:t>최신 기준이 아님</a:t>
            </a:r>
            <a:endParaRPr lang="en-US" altLang="ko-KR" b="1" dirty="0">
              <a:highlight>
                <a:srgbClr val="00FFFF"/>
              </a:highlight>
            </a:endParaRP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 </a:t>
            </a:r>
            <a:r>
              <a:rPr lang="ko-KR" altLang="en-US" b="1" dirty="0"/>
              <a:t>최신 시간 개념 반영</a:t>
            </a:r>
            <a:endParaRPr lang="en-US" altLang="ko-KR" b="1" dirty="0"/>
          </a:p>
          <a:p>
            <a:r>
              <a:rPr lang="ko-KR" altLang="en-US" dirty="0"/>
              <a:t>질문 → </a:t>
            </a:r>
            <a:r>
              <a:rPr lang="en-US" altLang="ko-KR" dirty="0"/>
              <a:t>intent </a:t>
            </a:r>
            <a:r>
              <a:rPr lang="ko-KR" altLang="en-US" dirty="0"/>
              <a:t>분류 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├─ 시간 표현 없음 → 최신 데이터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 ├─ </a:t>
            </a:r>
            <a:r>
              <a:rPr lang="en-US" altLang="ko-KR" dirty="0"/>
              <a:t>"</a:t>
            </a:r>
            <a:r>
              <a:rPr lang="ko-KR" altLang="en-US" dirty="0"/>
              <a:t>어제</a:t>
            </a:r>
            <a:r>
              <a:rPr lang="en-US" altLang="ko-KR" dirty="0"/>
              <a:t>", "</a:t>
            </a:r>
            <a:r>
              <a:rPr lang="ko-KR" altLang="en-US" dirty="0"/>
              <a:t>지난주</a:t>
            </a:r>
            <a:r>
              <a:rPr lang="en-US" altLang="ko-KR" dirty="0"/>
              <a:t>" → </a:t>
            </a:r>
            <a:r>
              <a:rPr lang="ko-KR" altLang="en-US" dirty="0"/>
              <a:t>해당 기간 필터링</a:t>
            </a:r>
            <a:endParaRPr lang="en-US" altLang="ko-KR" dirty="0"/>
          </a:p>
          <a:p>
            <a:r>
              <a:rPr lang="ko-KR" altLang="en-US" dirty="0"/>
              <a:t>  └─ </a:t>
            </a:r>
            <a:r>
              <a:rPr lang="en-US" altLang="ko-KR" dirty="0"/>
              <a:t>"</a:t>
            </a:r>
            <a:r>
              <a:rPr lang="ko-KR" altLang="en-US" dirty="0"/>
              <a:t>비교</a:t>
            </a:r>
            <a:r>
              <a:rPr lang="en-US" altLang="ko-KR" dirty="0"/>
              <a:t>", "</a:t>
            </a:r>
            <a:r>
              <a:rPr lang="ko-KR" altLang="en-US" dirty="0"/>
              <a:t>패턴</a:t>
            </a:r>
            <a:r>
              <a:rPr lang="en-US" altLang="ko-KR" dirty="0"/>
              <a:t>", "</a:t>
            </a:r>
            <a:r>
              <a:rPr lang="ko-KR" altLang="en-US" dirty="0"/>
              <a:t>추이</a:t>
            </a:r>
            <a:r>
              <a:rPr lang="en-US" altLang="ko-KR" dirty="0"/>
              <a:t>", "</a:t>
            </a:r>
            <a:r>
              <a:rPr lang="ko-KR" altLang="en-US" dirty="0"/>
              <a:t>언제</a:t>
            </a:r>
            <a:r>
              <a:rPr lang="en-US" altLang="ko-KR" dirty="0"/>
              <a:t>" → </a:t>
            </a:r>
            <a:r>
              <a:rPr lang="ko-KR" altLang="en-US" dirty="0"/>
              <a:t>의미 유사도 검색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625EC-661E-8B59-FA9E-064D24217D7D}"/>
              </a:ext>
            </a:extLst>
          </p:cNvPr>
          <p:cNvSpPr txBox="1"/>
          <p:nvPr/>
        </p:nvSpPr>
        <p:spPr>
          <a:xfrm>
            <a:off x="7806730" y="3291292"/>
            <a:ext cx="3414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FF0000"/>
                </a:solidFill>
              </a:rPr>
              <a:t>intent_classifier</a:t>
            </a:r>
            <a:r>
              <a:rPr lang="en-US" altLang="ko-KR" sz="2800" b="1" dirty="0">
                <a:solidFill>
                  <a:srgbClr val="FF0000"/>
                </a:solidFill>
              </a:rPr>
              <a:t>. </a:t>
            </a:r>
            <a:r>
              <a:rPr lang="en-US" altLang="ko-KR" sz="2800" b="1" dirty="0" err="1">
                <a:solidFill>
                  <a:srgbClr val="FF0000"/>
                </a:solidFill>
              </a:rPr>
              <a:t>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8E1D7-CE24-379D-A151-3A3125A70CF6}"/>
              </a:ext>
            </a:extLst>
          </p:cNvPr>
          <p:cNvSpPr txBox="1"/>
          <p:nvPr/>
        </p:nvSpPr>
        <p:spPr>
          <a:xfrm>
            <a:off x="7572778" y="3937622"/>
            <a:ext cx="4170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rag_query.py.py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57593-820A-EEA5-6612-35E4A391A20E}"/>
              </a:ext>
            </a:extLst>
          </p:cNvPr>
          <p:cNvSpPr txBox="1"/>
          <p:nvPr/>
        </p:nvSpPr>
        <p:spPr>
          <a:xfrm>
            <a:off x="7572778" y="4697475"/>
            <a:ext cx="4170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rgbClr val="FF0000"/>
                </a:solidFill>
              </a:rPr>
              <a:t>vector_store</a:t>
            </a:r>
            <a:r>
              <a:rPr lang="en-US" altLang="ko-KR" sz="2800" b="1" dirty="0">
                <a:solidFill>
                  <a:srgbClr val="FF0000"/>
                </a:solidFill>
              </a:rPr>
              <a:t>. </a:t>
            </a:r>
            <a:r>
              <a:rPr lang="en-US" altLang="ko-KR" sz="2800" b="1" dirty="0" err="1">
                <a:solidFill>
                  <a:srgbClr val="FF0000"/>
                </a:solidFill>
              </a:rPr>
              <a:t>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FA555-2104-26AC-E578-55358AAA58AF}"/>
              </a:ext>
            </a:extLst>
          </p:cNvPr>
          <p:cNvSpPr txBox="1"/>
          <p:nvPr/>
        </p:nvSpPr>
        <p:spPr>
          <a:xfrm>
            <a:off x="7572778" y="5573238"/>
            <a:ext cx="4170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chat_generator.py.py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87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FFF38-DD1F-04D7-24F6-2F771B7A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609F17-E31B-7250-FC4A-0D4E7EC6D6A7}"/>
              </a:ext>
            </a:extLst>
          </p:cNvPr>
          <p:cNvSpPr txBox="1"/>
          <p:nvPr/>
        </p:nvSpPr>
        <p:spPr>
          <a:xfrm>
            <a:off x="214972" y="170162"/>
            <a:ext cx="56156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8. </a:t>
            </a:r>
            <a:r>
              <a:rPr lang="ko-KR" altLang="en-US" sz="2500" b="1" dirty="0">
                <a:solidFill>
                  <a:srgbClr val="0000CC"/>
                </a:solidFill>
              </a:rPr>
              <a:t>건강 등급별 운동 추천 칼로리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95431-B6D0-937C-86F3-BBFB37ED44DA}"/>
              </a:ext>
            </a:extLst>
          </p:cNvPr>
          <p:cNvSpPr txBox="1"/>
          <p:nvPr/>
        </p:nvSpPr>
        <p:spPr>
          <a:xfrm>
            <a:off x="214972" y="1070635"/>
            <a:ext cx="61593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C, D</a:t>
            </a:r>
            <a:r>
              <a:rPr lang="ko-KR" altLang="en-US" b="1" dirty="0"/>
              <a:t>등급</a:t>
            </a:r>
            <a:r>
              <a:rPr lang="en-US" altLang="ko-KR" b="1" dirty="0"/>
              <a:t>(</a:t>
            </a:r>
            <a:r>
              <a:rPr lang="ko-KR" altLang="en-US" b="1" dirty="0"/>
              <a:t>예</a:t>
            </a:r>
            <a:r>
              <a:rPr lang="en-US" altLang="ko-KR" b="1" dirty="0"/>
              <a:t>) </a:t>
            </a:r>
            <a:r>
              <a:rPr lang="ko-KR" altLang="en-US" b="1" dirty="0"/>
              <a:t>모두 </a:t>
            </a:r>
            <a:r>
              <a:rPr lang="en-US" altLang="ko-KR" b="1" dirty="0"/>
              <a:t>114 </a:t>
            </a:r>
            <a:r>
              <a:rPr lang="ko-KR" altLang="en-US" b="1" dirty="0"/>
              <a:t>칼로리의 운동 추천</a:t>
            </a:r>
            <a:endParaRPr lang="en-US" altLang="ko-KR" b="1" dirty="0">
              <a:highlight>
                <a:srgbClr val="00FFFF"/>
              </a:highlight>
            </a:endParaRP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 </a:t>
            </a:r>
            <a:r>
              <a:rPr lang="en-US" altLang="ko-KR" dirty="0"/>
              <a:t>1. </a:t>
            </a:r>
            <a:r>
              <a:rPr lang="ko-KR" altLang="en-US" dirty="0"/>
              <a:t>칼로리 계산 하드코딩 수정</a:t>
            </a:r>
            <a:endParaRPr lang="en-US" altLang="ko-KR" dirty="0"/>
          </a:p>
          <a:p>
            <a:r>
              <a:rPr lang="en-US" altLang="ko-KR" b="1" dirty="0"/>
              <a:t>         </a:t>
            </a:r>
            <a:r>
              <a:rPr lang="en-US" altLang="ko-KR" dirty="0"/>
              <a:t>2. Fallback </a:t>
            </a:r>
            <a:r>
              <a:rPr lang="ko-KR" altLang="en-US" dirty="0"/>
              <a:t>조건이 너무 광범위 하여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  <a:r>
              <a:rPr lang="en-US" altLang="ko-KR" b="1" dirty="0"/>
              <a:t>            </a:t>
            </a:r>
          </a:p>
          <a:p>
            <a:r>
              <a:rPr lang="ko-KR" altLang="en-US" dirty="0"/>
              <a:t>→ </a:t>
            </a:r>
            <a:r>
              <a:rPr lang="en-US" altLang="ko-KR" dirty="0"/>
              <a:t>C</a:t>
            </a:r>
            <a:r>
              <a:rPr lang="ko-KR" altLang="en-US" dirty="0"/>
              <a:t>등급과 </a:t>
            </a:r>
            <a:r>
              <a:rPr lang="en-US" altLang="ko-KR" dirty="0"/>
              <a:t>D</a:t>
            </a:r>
            <a:r>
              <a:rPr lang="ko-KR" altLang="en-US" dirty="0"/>
              <a:t>등급 모두 </a:t>
            </a:r>
            <a:r>
              <a:rPr lang="ko-KR" altLang="en-US" b="1" dirty="0"/>
              <a:t>동일한 </a:t>
            </a:r>
            <a:r>
              <a:rPr lang="en-US" altLang="ko-KR" b="1" dirty="0"/>
              <a:t>Fallback </a:t>
            </a:r>
            <a:r>
              <a:rPr lang="ko-KR" altLang="en-US" b="1" dirty="0"/>
              <a:t>루틴</a:t>
            </a:r>
            <a:r>
              <a:rPr lang="ko-KR" altLang="en-US" dirty="0"/>
              <a:t> 사용</a:t>
            </a:r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건강 점수가 루틴에 반영되지 않음</a:t>
            </a:r>
          </a:p>
          <a:p>
            <a:r>
              <a:rPr lang="en-US" altLang="ko-KR" dirty="0"/>
              <a:t>40</a:t>
            </a:r>
            <a:r>
              <a:rPr lang="ko-KR" altLang="en-US" dirty="0"/>
              <a:t>점이든 </a:t>
            </a:r>
            <a:r>
              <a:rPr lang="en-US" altLang="ko-KR" dirty="0"/>
              <a:t>58</a:t>
            </a:r>
            <a:r>
              <a:rPr lang="ko-KR" altLang="en-US" dirty="0"/>
              <a:t>점이든 같은 </a:t>
            </a:r>
            <a:r>
              <a:rPr lang="en-US" altLang="ko-KR" dirty="0"/>
              <a:t>"</a:t>
            </a:r>
            <a:r>
              <a:rPr lang="ko-KR" altLang="en-US" dirty="0"/>
              <a:t>하</a:t>
            </a:r>
            <a:r>
              <a:rPr lang="en-US" altLang="ko-KR" dirty="0"/>
              <a:t>" </a:t>
            </a:r>
            <a:r>
              <a:rPr lang="ko-KR" altLang="en-US" dirty="0"/>
              <a:t>난이도면 동일한 운동</a:t>
            </a:r>
            <a:endParaRPr lang="en-US" altLang="ko-KR" dirty="0"/>
          </a:p>
          <a:p>
            <a:r>
              <a:rPr lang="en-US" altLang="ko-KR" dirty="0"/>
              <a:t>4. D</a:t>
            </a:r>
            <a:r>
              <a:rPr lang="ko-KR" altLang="en-US" dirty="0"/>
              <a:t>등급 최소 칼로리 </a:t>
            </a:r>
            <a:r>
              <a:rPr lang="en-US" altLang="ko-KR" dirty="0"/>
              <a:t>100</a:t>
            </a:r>
            <a:r>
              <a:rPr lang="ko-KR" altLang="en-US" dirty="0"/>
              <a:t>칼로리 이상 되게 운동 추천</a:t>
            </a:r>
          </a:p>
          <a:p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AC964-C6F0-2667-62C8-B2E7A843055D}"/>
              </a:ext>
            </a:extLst>
          </p:cNvPr>
          <p:cNvSpPr txBox="1"/>
          <p:nvPr/>
        </p:nvSpPr>
        <p:spPr>
          <a:xfrm>
            <a:off x="8150489" y="385606"/>
            <a:ext cx="2702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llm_analysis.py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92985F-FFB9-3034-4FE3-1F0D2AC5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38" y="3230922"/>
            <a:ext cx="5131365" cy="23624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C98896-75BD-656F-40C3-8E0F1DB67B31}"/>
              </a:ext>
            </a:extLst>
          </p:cNvPr>
          <p:cNvSpPr txBox="1"/>
          <p:nvPr/>
        </p:nvSpPr>
        <p:spPr>
          <a:xfrm>
            <a:off x="8150489" y="1117263"/>
            <a:ext cx="35235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health_interpreter.py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pic>
        <p:nvPicPr>
          <p:cNvPr id="13" name="그림 12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3EBF76-F404-3441-9D10-D14DD1977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44" y="2865987"/>
            <a:ext cx="5296484" cy="28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6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6679-6B94-BE1C-8D8C-ECCD2718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43673-AE7B-B012-EC83-4E0A2816693A}"/>
              </a:ext>
            </a:extLst>
          </p:cNvPr>
          <p:cNvSpPr txBox="1"/>
          <p:nvPr/>
        </p:nvSpPr>
        <p:spPr>
          <a:xfrm>
            <a:off x="214972" y="170162"/>
            <a:ext cx="46249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0000CC"/>
                </a:solidFill>
              </a:rPr>
              <a:t>9. </a:t>
            </a:r>
            <a:r>
              <a:rPr lang="ko-KR" altLang="en-US" sz="2500" b="1" dirty="0">
                <a:solidFill>
                  <a:srgbClr val="0000CC"/>
                </a:solidFill>
              </a:rPr>
              <a:t>삼성</a:t>
            </a:r>
            <a:r>
              <a:rPr lang="en-US" altLang="ko-KR" sz="2500" b="1" dirty="0">
                <a:solidFill>
                  <a:srgbClr val="0000CC"/>
                </a:solidFill>
              </a:rPr>
              <a:t>, </a:t>
            </a:r>
            <a:r>
              <a:rPr lang="ko-KR" altLang="en-US" sz="2500" b="1" dirty="0">
                <a:solidFill>
                  <a:srgbClr val="0000CC"/>
                </a:solidFill>
              </a:rPr>
              <a:t>애플 플랫폼 구분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DB6B9-F811-8A86-7C7A-D4DC6F8485BA}"/>
              </a:ext>
            </a:extLst>
          </p:cNvPr>
          <p:cNvSpPr txBox="1"/>
          <p:nvPr/>
        </p:nvSpPr>
        <p:spPr>
          <a:xfrm>
            <a:off x="214972" y="1070635"/>
            <a:ext cx="3966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기존</a:t>
            </a:r>
            <a:r>
              <a:rPr lang="en-US" altLang="ko-KR" b="1" dirty="0"/>
              <a:t>) </a:t>
            </a:r>
            <a:r>
              <a:rPr lang="ko-KR" altLang="en-US" b="1" dirty="0"/>
              <a:t>삼성 </a:t>
            </a:r>
            <a:r>
              <a:rPr lang="en-US" altLang="ko-KR" b="1" dirty="0" err="1"/>
              <a:t>api</a:t>
            </a:r>
            <a:r>
              <a:rPr lang="ko-KR" altLang="en-US" b="1" dirty="0"/>
              <a:t>가 애플 </a:t>
            </a:r>
            <a:r>
              <a:rPr lang="en-US" altLang="ko-KR" b="1" dirty="0" err="1"/>
              <a:t>api</a:t>
            </a:r>
            <a:r>
              <a:rPr lang="ko-KR" altLang="en-US" b="1" dirty="0"/>
              <a:t>로 인식됨</a:t>
            </a:r>
            <a:endParaRPr lang="en-US" altLang="ko-KR" b="1" dirty="0">
              <a:highlight>
                <a:srgbClr val="00FFFF"/>
              </a:highlight>
            </a:endParaRPr>
          </a:p>
          <a:p>
            <a:r>
              <a:rPr lang="en-US" altLang="ko-KR" b="1" dirty="0"/>
              <a:t>(</a:t>
            </a:r>
            <a:r>
              <a:rPr lang="ko-KR" altLang="en-US" b="1" dirty="0"/>
              <a:t>수정</a:t>
            </a:r>
            <a:r>
              <a:rPr lang="en-US" altLang="ko-KR" b="1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BA60D-39A1-D291-45B8-628330A0CEEC}"/>
              </a:ext>
            </a:extLst>
          </p:cNvPr>
          <p:cNvSpPr txBox="1"/>
          <p:nvPr/>
        </p:nvSpPr>
        <p:spPr>
          <a:xfrm>
            <a:off x="8150489" y="385606"/>
            <a:ext cx="3595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Platform_detection</a:t>
            </a:r>
            <a:r>
              <a:rPr lang="en-US" altLang="ko-KR" sz="2800" b="1" dirty="0">
                <a:solidFill>
                  <a:srgbClr val="FF0000"/>
                </a:solidFill>
              </a:rPr>
              <a:t>.py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8C9C21-A198-8869-C163-28F1591F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47" y="1488169"/>
            <a:ext cx="5017053" cy="9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8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8AD23-3FC0-44F1-32F4-0645DC62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6FD827-1668-66DC-5E96-5A19AED6D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3" y="288000"/>
            <a:ext cx="5182171" cy="3353170"/>
          </a:xfrm>
          <a:prstGeom prst="rect">
            <a:avLst/>
          </a:prstGeom>
        </p:spPr>
      </p:pic>
      <p:pic>
        <p:nvPicPr>
          <p:cNvPr id="5" name="그림 4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1A3D53-FADA-A207-5201-02EF4B210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761" y="377297"/>
            <a:ext cx="5182171" cy="555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64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6278-225A-EFD9-3951-18E930C6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F1C500B-AEDC-5A3E-DA39-0E7B98385486}"/>
              </a:ext>
            </a:extLst>
          </p:cNvPr>
          <p:cNvGrpSpPr/>
          <p:nvPr/>
        </p:nvGrpSpPr>
        <p:grpSpPr>
          <a:xfrm>
            <a:off x="547404" y="180932"/>
            <a:ext cx="5132180" cy="6309960"/>
            <a:chOff x="917686" y="-3544560"/>
            <a:chExt cx="7379513" cy="9073033"/>
          </a:xfrm>
        </p:grpSpPr>
        <p:pic>
          <p:nvPicPr>
            <p:cNvPr id="3" name="그림 2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7CB143E-8F32-A0B6-87BC-16C3F276F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686" y="-3544560"/>
              <a:ext cx="7379513" cy="5923086"/>
            </a:xfrm>
            <a:prstGeom prst="rect">
              <a:avLst/>
            </a:prstGeom>
          </p:spPr>
        </p:pic>
        <p:pic>
          <p:nvPicPr>
            <p:cNvPr id="5" name="그림 4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572108-938D-EEA0-FE62-C1EC1F700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7686" y="2378526"/>
              <a:ext cx="7324474" cy="31499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2330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B846-B89B-C61B-7762-2908FE83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31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530C-EFAA-063C-14A7-B2C7CE08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09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286F1-E4B4-5FF2-3DEC-08FC3DA1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465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61FD-4EA5-1787-712A-F7894899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866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515</Words>
  <Application>Microsoft Office PowerPoint</Application>
  <PresentationFormat>와이드스크린</PresentationFormat>
  <Paragraphs>59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재령 허</dc:creator>
  <cp:lastModifiedBy>재령 허</cp:lastModifiedBy>
  <cp:revision>20</cp:revision>
  <dcterms:created xsi:type="dcterms:W3CDTF">2025-12-19T00:10:57Z</dcterms:created>
  <dcterms:modified xsi:type="dcterms:W3CDTF">2025-12-23T05:18:11Z</dcterms:modified>
</cp:coreProperties>
</file>